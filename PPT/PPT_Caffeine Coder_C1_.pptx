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Outfit ExtraBold"/>
      <p:bold r:id="rId18"/>
    </p:embeddedFont>
    <p:embeddedFont>
      <p:font typeface="Outfit"/>
      <p:regular r:id="rId19"/>
      <p:bold r:id="rId20"/>
    </p:embeddedFont>
    <p:embeddedFont>
      <p:font typeface="Outfit Medium"/>
      <p:regular r:id="rId21"/>
      <p:bold r:id="rId22"/>
    </p:embeddedFont>
    <p:embeddedFont>
      <p:font typeface="Lexen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-bold.fntdata"/><Relationship Id="rId11" Type="http://schemas.openxmlformats.org/officeDocument/2006/relationships/slide" Target="slides/slide5.xml"/><Relationship Id="rId22" Type="http://schemas.openxmlformats.org/officeDocument/2006/relationships/font" Target="fonts/OutfitMedium-bold.fntdata"/><Relationship Id="rId10" Type="http://schemas.openxmlformats.org/officeDocument/2006/relationships/slide" Target="slides/slide4.xml"/><Relationship Id="rId21" Type="http://schemas.openxmlformats.org/officeDocument/2006/relationships/font" Target="fonts/OutfitMedium-regular.fntdata"/><Relationship Id="rId13" Type="http://schemas.openxmlformats.org/officeDocument/2006/relationships/slide" Target="slides/slide7.xml"/><Relationship Id="rId24" Type="http://schemas.openxmlformats.org/officeDocument/2006/relationships/font" Target="fonts/Lexend-bold.fntdata"/><Relationship Id="rId12" Type="http://schemas.openxmlformats.org/officeDocument/2006/relationships/slide" Target="slides/slide6.xml"/><Relationship Id="rId23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utfit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utfit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dfc30639e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3dfc30639e_6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dfc30639e_2_8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3" name="Google Shape;133;g33dfc30639e_2_8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4" name="Google Shape;134;g33dfc30639e_2_8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3dfc30639e_2_8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3dfc30639e_2_8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7" name="Google Shape;137;g33dfc30639e_2_8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dfc30639e_0_1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5" name="Google Shape;145;g33dfc30639e_0_1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6" name="Google Shape;146;g33dfc30639e_0_12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3dfc30639e_0_12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3dfc30639e_0_12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9" name="Google Shape;149;g33dfc30639e_0_12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61c9299a2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6" name="Google Shape;156;g3461c9299a2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7" name="Google Shape;157;g3461c9299a2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461c9299a2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461c9299a2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0" name="Google Shape;160;g3461c9299a2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dfc30639e_0_14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g33dfc30639e_0_14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g33dfc30639e_0_14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3dfc30639e_0_14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3dfc30639e_0_14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g33dfc30639e_0_14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dfc30639e_0_13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9" name="Google Shape;179;g33dfc30639e_0_13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0" name="Google Shape;180;g33dfc30639e_0_133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3dfc30639e_0_13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3dfc30639e_0_13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3" name="Google Shape;183;g33dfc30639e_0_13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5d26439c1_11_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0" name="Google Shape;190;g345d26439c1_11_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1" name="Google Shape;191;g345d26439c1_11_1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45d26439c1_11_1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45d26439c1_11_1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4" name="Google Shape;194;g345d26439c1_11_1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5"/>
          <p:cNvSpPr txBox="1"/>
          <p:nvPr/>
        </p:nvSpPr>
        <p:spPr>
          <a:xfrm>
            <a:off x="466650" y="1501550"/>
            <a:ext cx="8125800" cy="21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Category Code: </a:t>
            </a:r>
            <a:r>
              <a:rPr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C1 (</a:t>
            </a:r>
            <a:r>
              <a:rPr lang="en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Open Innovation)</a:t>
            </a:r>
            <a:r>
              <a:rPr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	</a:t>
            </a:r>
            <a:endParaRPr sz="2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Problem Statement Title: 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EduTrade - Swap Skills, Gain Expertise</a:t>
            </a:r>
            <a:endParaRPr sz="19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Team Name: </a:t>
            </a:r>
            <a:r>
              <a:rPr lang="en" sz="19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Caffeine Coder</a:t>
            </a:r>
            <a:endParaRPr sz="1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just">
              <a:lnSpc>
                <a:spcPct val="90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Institute Name: </a:t>
            </a:r>
            <a:r>
              <a:rPr lang="en" sz="19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Vivekanand Education Society’s Institute of Technology</a:t>
            </a:r>
            <a:endParaRPr sz="2200">
              <a:solidFill>
                <a:srgbClr val="CCA677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/>
          <p:nvPr/>
        </p:nvSpPr>
        <p:spPr>
          <a:xfrm>
            <a:off x="-30875" y="-3090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26"/>
          <p:cNvSpPr txBox="1"/>
          <p:nvPr/>
        </p:nvSpPr>
        <p:spPr>
          <a:xfrm>
            <a:off x="500575" y="235575"/>
            <a:ext cx="8081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Idea / Approach details</a:t>
            </a:r>
            <a:endParaRPr sz="2600">
              <a:solidFill>
                <a:schemeClr val="dk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810900" y="1359250"/>
            <a:ext cx="36342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Problem Statement: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Many individuals struggle with limited access to quality education, skills mismatching job market demands, financial constraints, and lack of professional networks, leading to unequal job opportunities.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Solution Overview: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EduTrade is an AI-powered platform that bridges the gap between learning and employment. It provides personalized skill assessments, free learning resources, AI-driven job matching, a Skill Swap Marketplace, and instant resume generation to help users secure sustainable careers.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4572000" y="1440175"/>
            <a:ext cx="3810000" cy="29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Target Users:</a:t>
            </a:r>
            <a:endParaRPr b="1"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Students &amp; Fresh Graduates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– Seeking skill development, mentorship, and job opportunities.</a:t>
            </a:r>
            <a:b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Job Seekers &amp; Career Changers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– Looking for AI-driven job matching and skill enhancement.</a:t>
            </a:r>
            <a:b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Mentors &amp; Industry Experts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– Offering guidance, validating skills, and conducting learning sessions.</a:t>
            </a:r>
            <a:b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Employers &amp; Recruiters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– Posting jobs, reviewing candidates, and hiring skilled professionals.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27"/>
          <p:cNvSpPr txBox="1"/>
          <p:nvPr/>
        </p:nvSpPr>
        <p:spPr>
          <a:xfrm>
            <a:off x="500575" y="235575"/>
            <a:ext cx="8081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Implemented Features</a:t>
            </a:r>
            <a:endParaRPr sz="2600">
              <a:solidFill>
                <a:schemeClr val="dk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1389775" y="1376025"/>
            <a:ext cx="6302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●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Live Face Monitoring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Tracks emotions and stress levels in real-time.</a:t>
            </a:r>
            <a:b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●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Employer Job Listings &amp; Posting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Employers can post job openings and manage listings.</a:t>
            </a:r>
            <a:b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●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Role-Based Sign-In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Secure authentication with different access levels for employers and job seekers.</a:t>
            </a:r>
            <a:b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●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AI Resume Parser &amp; Scorer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Automatically extracts key details from resumes and provides a score.</a:t>
            </a:r>
            <a:b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●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Skill Matching &amp; Swapping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Enables users to exchange skills dynamically for better job opportunities.</a:t>
            </a:r>
            <a:b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●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Mentoring Sessions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: Connects users with industry experts for guidance and career growth.</a:t>
            </a:r>
            <a:b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28"/>
          <p:cNvSpPr txBox="1"/>
          <p:nvPr/>
        </p:nvSpPr>
        <p:spPr>
          <a:xfrm>
            <a:off x="500575" y="235575"/>
            <a:ext cx="8081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Innovation (Showstopper)</a:t>
            </a:r>
            <a:endParaRPr sz="2600">
              <a:solidFill>
                <a:schemeClr val="dk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1420650" y="1421700"/>
            <a:ext cx="6302700" cy="3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Skill Swap Marketplace</a:t>
            </a:r>
            <a:endParaRPr b="1"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Users exchange skills (e.g., coding for UI/UX) using a time-based token system.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AI or manual matching ensures fair and relevant learning exchanges.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Job Market Integration</a:t>
            </a:r>
            <a:endParaRPr b="1"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AI-driven smart job matching connects users with relevant opportunities.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Includes resume building, interview prep, and direct recruitment.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Automated Resume Analysis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 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Extracts key details (skills, experience, education) and evaluates resumes based on job relevance using AI.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AI-Powered Scoring &amp; Feedback</a:t>
            </a: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</a:pPr>
            <a:r>
              <a:rPr lang="en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Assigns a score to resumes and provides real-time suggestions for improvement to enhance job matching.</a:t>
            </a:r>
            <a:endParaRPr b="1"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29"/>
          <p:cNvSpPr txBox="1"/>
          <p:nvPr/>
        </p:nvSpPr>
        <p:spPr>
          <a:xfrm>
            <a:off x="500575" y="235575"/>
            <a:ext cx="8081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Tech Stack </a:t>
            </a:r>
            <a:endParaRPr sz="10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968450" y="1388675"/>
            <a:ext cx="74100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Frontend:</a:t>
            </a:r>
            <a:r>
              <a:rPr lang="en" sz="1900">
                <a:solidFill>
                  <a:schemeClr val="dk1"/>
                </a:solidFill>
              </a:rPr>
              <a:t> React.js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Backend:</a:t>
            </a:r>
            <a:r>
              <a:rPr lang="en" sz="1900">
                <a:solidFill>
                  <a:schemeClr val="dk1"/>
                </a:solidFill>
              </a:rPr>
              <a:t> Node.js, Flask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Database:</a:t>
            </a:r>
            <a:r>
              <a:rPr lang="en" sz="1900">
                <a:solidFill>
                  <a:schemeClr val="dk1"/>
                </a:solidFill>
              </a:rPr>
              <a:t> MongoDB</a:t>
            </a:r>
            <a:br>
              <a:rPr lang="en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Machine Learning:</a:t>
            </a:r>
            <a:r>
              <a:rPr lang="en" sz="1900">
                <a:solidFill>
                  <a:schemeClr val="dk1"/>
                </a:solidFill>
              </a:rPr>
              <a:t> Python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76" name="Google Shape;176;p29"/>
          <p:cNvPicPr preferRelativeResize="0"/>
          <p:nvPr/>
        </p:nvPicPr>
        <p:blipFill rotWithShape="1">
          <a:blip r:embed="rId4">
            <a:alphaModFix/>
          </a:blip>
          <a:srcRect b="11087" l="5488" r="7524" t="0"/>
          <a:stretch/>
        </p:blipFill>
        <p:spPr>
          <a:xfrm>
            <a:off x="4572000" y="1444725"/>
            <a:ext cx="3893525" cy="21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/>
          <p:nvPr/>
        </p:nvSpPr>
        <p:spPr>
          <a:xfrm>
            <a:off x="-801275" y="-331725"/>
            <a:ext cx="10378440" cy="586359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30"/>
          <p:cNvSpPr txBox="1"/>
          <p:nvPr/>
        </p:nvSpPr>
        <p:spPr>
          <a:xfrm>
            <a:off x="0" y="110525"/>
            <a:ext cx="84879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Use Case Diagram</a:t>
            </a:r>
            <a:endParaRPr b="1"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87" name="Google Shape;187;p30" title="diagram-export-3-28-2025-9_58_41-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1450" y="1090694"/>
            <a:ext cx="9144003" cy="3985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/>
          <p:nvPr/>
        </p:nvSpPr>
        <p:spPr>
          <a:xfrm>
            <a:off x="-801275" y="-331725"/>
            <a:ext cx="10378440" cy="586359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31"/>
          <p:cNvSpPr txBox="1"/>
          <p:nvPr/>
        </p:nvSpPr>
        <p:spPr>
          <a:xfrm>
            <a:off x="0" y="110525"/>
            <a:ext cx="84879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Future Objective</a:t>
            </a:r>
            <a:endParaRPr b="1" sz="18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8" name="Google Shape;198;p31"/>
          <p:cNvSpPr txBox="1"/>
          <p:nvPr/>
        </p:nvSpPr>
        <p:spPr>
          <a:xfrm>
            <a:off x="276000" y="1391175"/>
            <a:ext cx="7935900" cy="3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AutoNum type="arabicPeriod"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Peer-to-Peer Learning via Video Calls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– Enables live skill exchange sessions through secure video calls, fostering interactive learning and mentorship.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AutoNum type="arabicPeriod"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Decentralized Learning &amp; Skill Verification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– Blockchain-based certificates for verified skill endorsements and decentralized skill records to ensure credibility across platforms.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AutoNum type="arabicPeriod"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AI Video Summarizer for Skill Swap Sessions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– AI-powered summarization of recorded sessions for quick knowledge retrieval and learning insights.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AutoNum type="arabicPeriod"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Metaverse &amp; VR-Based Learning Modules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– Immersive learning through VR-based training simulations and virtual skill swap rooms for hands-on experiences.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AutoNum type="arabicPeriod"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Smart Contracts for Skill Exchange &amp; Payments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– Secure and automated transactions using blockchain to ensure fair exchanges and fraud prevention in freelancing &amp; mentorship.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AutoNum type="arabicPeriod"/>
            </a:pPr>
            <a:r>
              <a:rPr b="1"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Automated AI Job &amp; Internship Applications</a:t>
            </a: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– AI auto-applies to relevant jobs and internships based on user skills, with smart tracking of application status and interview scheduling.</a:t>
            </a:r>
            <a:b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endParaRPr b="1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